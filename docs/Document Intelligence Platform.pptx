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018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22960" y="187452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Intelligence Platform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Document Extraction, Validation &amp; API Platform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D0B1AA-3854-C71F-6DCA-A1E95581CB95}"/>
              </a:ext>
            </a:extLst>
          </p:cNvPr>
          <p:cNvSpPr txBox="1"/>
          <p:nvPr/>
        </p:nvSpPr>
        <p:spPr>
          <a:xfrm>
            <a:off x="822960" y="3429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b="0" i="0" dirty="0">
                <a:solidFill>
                  <a:srgbClr val="FFFFFF"/>
                </a:solidFill>
                <a:effectLst/>
              </a:rPr>
              <a:t>By Ishika Mandloi</a:t>
            </a:r>
            <a:endParaRPr lang="en-IN" dirty="0"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3200" dirty="0"/>
          </a:p>
        </p:txBody>
      </p:sp>
      <p:pic>
        <p:nvPicPr>
          <p:cNvPr id="4" name="Image 0" descr="icons/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8268" y="58978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645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2057400"/>
            <a:ext cx="475488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teams receive invoices &amp; statements as native or scanned PDF/JPG/PNG.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Varying layouts, OCR noise, and inconsistent line items make manual extraction slow and error-prone.</a:t>
            </a:r>
            <a:endParaRPr lang="en-US" sz="14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 reusable service that extracts everything, validates the numbers, and surfaces results via a dashboard + REST API.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03620" y="137160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6583680" y="1645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SUBMISSION DELIVERS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0" y="2103119"/>
            <a:ext cx="4709160" cy="1841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→ OCR/text extract → AI-based field &amp; table extract → financial validation → confidence/evidence → persist → dashboard + REST API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All 4 document types: Invoice, Balance Sheet, Profit &amp; Loss, Cash Flow Statement.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Deployed, documented, tested, </a:t>
            </a:r>
            <a:r>
              <a:rPr lang="en-US" sz="1400" dirty="0" err="1">
                <a:solidFill>
                  <a:schemeClr val="bg1"/>
                </a:solidFill>
              </a:rPr>
              <a:t>dockerized</a:t>
            </a:r>
            <a:r>
              <a:rPr lang="en-US" sz="1400" dirty="0">
                <a:solidFill>
                  <a:schemeClr val="bg1"/>
                </a:solidFill>
              </a:rPr>
              <a:t> for one-command deployment. </a:t>
            </a:r>
          </a:p>
        </p:txBody>
      </p:sp>
      <p:sp>
        <p:nvSpPr>
          <p:cNvPr id="12" name="Text 9"/>
          <p:cNvSpPr/>
          <p:nvPr/>
        </p:nvSpPr>
        <p:spPr>
          <a:xfrm>
            <a:off x="6967728" y="36484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967728" y="41056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67728" y="45628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967728" y="50200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583680" y="562356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7040880" cy="484632"/>
          </a:xfrm>
          <a:prstGeom prst="roundRect">
            <a:avLst>
              <a:gd name="adj" fmla="val 11321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13232" y="1234440"/>
            <a:ext cx="6711696" cy="271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Frontend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13232" y="1486449"/>
            <a:ext cx="6711696" cy="222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Document Detail (HTML / CSS / JS)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 rot="10800000">
            <a:off x="3995928" y="1723644"/>
            <a:ext cx="146304" cy="82296"/>
          </a:xfrm>
          <a:prstGeom prst="triangle">
            <a:avLst/>
          </a:prstGeom>
          <a:solidFill>
            <a:srgbClr val="5A6178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1801368"/>
            <a:ext cx="7040880" cy="484632"/>
          </a:xfrm>
          <a:prstGeom prst="roundRect">
            <a:avLst>
              <a:gd name="adj" fmla="val 11321"/>
            </a:avLst>
          </a:prstGeom>
          <a:solidFill>
            <a:srgbClr val="2F3C7E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1801368"/>
            <a:ext cx="6711696" cy="271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API — /api/v1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13232" y="2053377"/>
            <a:ext cx="6711696" cy="222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/process  ·  GET /documents  ·  GET /{name}  ·  GET /health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 rot="10800000">
            <a:off x="3995928" y="2290572"/>
            <a:ext cx="146304" cy="82296"/>
          </a:xfrm>
          <a:prstGeom prst="triangle">
            <a:avLst/>
          </a:prstGeom>
          <a:solidFill>
            <a:srgbClr val="5A6178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2368296"/>
            <a:ext cx="7040880" cy="484632"/>
          </a:xfrm>
          <a:prstGeom prst="roundRect">
            <a:avLst>
              <a:gd name="adj" fmla="val 11321"/>
            </a:avLst>
          </a:prstGeom>
          <a:solidFill>
            <a:srgbClr val="4A5578"/>
          </a:solidFill>
          <a:ln/>
        </p:spPr>
      </p:sp>
      <p:sp>
        <p:nvSpPr>
          <p:cNvPr id="14" name="Text 11"/>
          <p:cNvSpPr/>
          <p:nvPr/>
        </p:nvSpPr>
        <p:spPr>
          <a:xfrm>
            <a:off x="713232" y="2368296"/>
            <a:ext cx="6711696" cy="271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Document Validation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13232" y="2620305"/>
            <a:ext cx="6711696" cy="222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File-type sniff (magic byte) · integrity check · 3-page limit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 rot="10800000">
            <a:off x="3995928" y="2857500"/>
            <a:ext cx="146304" cy="82296"/>
          </a:xfrm>
          <a:prstGeom prst="triangle">
            <a:avLst/>
          </a:prstGeom>
          <a:solidFill>
            <a:srgbClr val="5A6178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2935224"/>
            <a:ext cx="7040880" cy="484632"/>
          </a:xfrm>
          <a:prstGeom prst="roundRect">
            <a:avLst>
              <a:gd name="adj" fmla="val 11321"/>
            </a:avLst>
          </a:prstGeom>
          <a:solidFill>
            <a:srgbClr val="4A5578"/>
          </a:solidFill>
          <a:ln/>
        </p:spPr>
      </p:sp>
      <p:sp>
        <p:nvSpPr>
          <p:cNvPr id="18" name="Text 15"/>
          <p:cNvSpPr/>
          <p:nvPr/>
        </p:nvSpPr>
        <p:spPr>
          <a:xfrm>
            <a:off x="713232" y="2935224"/>
            <a:ext cx="6711696" cy="271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Text Extraction / OCR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13232" y="3187233"/>
            <a:ext cx="6711696" cy="222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native text + Tesseract for scanned pages/images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 rot="10800000">
            <a:off x="3995928" y="3424428"/>
            <a:ext cx="146304" cy="82296"/>
          </a:xfrm>
          <a:prstGeom prst="triangle">
            <a:avLst/>
          </a:prstGeom>
          <a:solidFill>
            <a:srgbClr val="5A6178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" y="3502152"/>
            <a:ext cx="7040880" cy="484632"/>
          </a:xfrm>
          <a:prstGeom prst="roundRect">
            <a:avLst>
              <a:gd name="adj" fmla="val 11321"/>
            </a:avLst>
          </a:prstGeom>
          <a:solidFill>
            <a:srgbClr val="4A5578"/>
          </a:solidFill>
          <a:ln/>
        </p:spPr>
      </p:sp>
      <p:sp>
        <p:nvSpPr>
          <p:cNvPr id="22" name="Text 19"/>
          <p:cNvSpPr/>
          <p:nvPr/>
        </p:nvSpPr>
        <p:spPr>
          <a:xfrm>
            <a:off x="713232" y="3502152"/>
            <a:ext cx="6711696" cy="271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AI-Based Field &amp; Table Extraction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13232" y="3754161"/>
            <a:ext cx="6711696" cy="222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NLP: regex/keyword + positional table parser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 rot="10800000">
            <a:off x="3995928" y="3991356"/>
            <a:ext cx="146304" cy="82296"/>
          </a:xfrm>
          <a:prstGeom prst="triangle">
            <a:avLst/>
          </a:prstGeom>
          <a:solidFill>
            <a:srgbClr val="5A6178"/>
          </a:solidFill>
          <a:ln/>
        </p:spPr>
      </p:sp>
      <p:sp>
        <p:nvSpPr>
          <p:cNvPr id="25" name="Shape 22"/>
          <p:cNvSpPr/>
          <p:nvPr/>
        </p:nvSpPr>
        <p:spPr>
          <a:xfrm>
            <a:off x="548640" y="4069080"/>
            <a:ext cx="7040880" cy="484632"/>
          </a:xfrm>
          <a:prstGeom prst="roundRect">
            <a:avLst>
              <a:gd name="adj" fmla="val 11321"/>
            </a:avLst>
          </a:prstGeom>
          <a:solidFill>
            <a:srgbClr val="4A5578"/>
          </a:solidFill>
          <a:ln/>
        </p:spPr>
      </p:sp>
      <p:sp>
        <p:nvSpPr>
          <p:cNvPr id="26" name="Text 23"/>
          <p:cNvSpPr/>
          <p:nvPr/>
        </p:nvSpPr>
        <p:spPr>
          <a:xfrm>
            <a:off x="713232" y="4069080"/>
            <a:ext cx="6711696" cy="271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Financial Calculation Validation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13232" y="4321089"/>
            <a:ext cx="6711696" cy="222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Per-document formulas, tolerance-based PASS / FAIL / NOT_APPLICABLE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 rot="10800000">
            <a:off x="3995928" y="4558284"/>
            <a:ext cx="146304" cy="82296"/>
          </a:xfrm>
          <a:prstGeom prst="triangle">
            <a:avLst/>
          </a:prstGeom>
          <a:solidFill>
            <a:srgbClr val="5A6178"/>
          </a:solidFill>
          <a:ln/>
        </p:spPr>
      </p:sp>
      <p:sp>
        <p:nvSpPr>
          <p:cNvPr id="29" name="Shape 26"/>
          <p:cNvSpPr/>
          <p:nvPr/>
        </p:nvSpPr>
        <p:spPr>
          <a:xfrm>
            <a:off x="548640" y="4636008"/>
            <a:ext cx="7040880" cy="484632"/>
          </a:xfrm>
          <a:prstGeom prst="roundRect">
            <a:avLst>
              <a:gd name="adj" fmla="val 11321"/>
            </a:avLst>
          </a:prstGeom>
          <a:solidFill>
            <a:srgbClr val="4A5578"/>
          </a:solidFill>
          <a:ln/>
        </p:spPr>
      </p:sp>
      <p:sp>
        <p:nvSpPr>
          <p:cNvPr id="30" name="Text 27"/>
          <p:cNvSpPr/>
          <p:nvPr/>
        </p:nvSpPr>
        <p:spPr>
          <a:xfrm>
            <a:off x="713232" y="4636008"/>
            <a:ext cx="6711696" cy="271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Confidence &amp; Evidence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713232" y="4888017"/>
            <a:ext cx="6711696" cy="222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OCR word confidence, source text + page grounding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 rot="10800000">
            <a:off x="3995928" y="5125212"/>
            <a:ext cx="146304" cy="82296"/>
          </a:xfrm>
          <a:prstGeom prst="triangle">
            <a:avLst/>
          </a:prstGeom>
          <a:solidFill>
            <a:srgbClr val="5A6178"/>
          </a:solidFill>
          <a:ln/>
        </p:spPr>
      </p:sp>
      <p:sp>
        <p:nvSpPr>
          <p:cNvPr id="33" name="Shape 30"/>
          <p:cNvSpPr/>
          <p:nvPr/>
        </p:nvSpPr>
        <p:spPr>
          <a:xfrm>
            <a:off x="548640" y="5202936"/>
            <a:ext cx="7040880" cy="484632"/>
          </a:xfrm>
          <a:prstGeom prst="roundRect">
            <a:avLst>
              <a:gd name="adj" fmla="val 11321"/>
            </a:avLst>
          </a:prstGeom>
          <a:solidFill>
            <a:srgbClr val="6A3FA0"/>
          </a:solidFill>
          <a:ln/>
        </p:spPr>
      </p:sp>
      <p:sp>
        <p:nvSpPr>
          <p:cNvPr id="34" name="Text 31"/>
          <p:cNvSpPr/>
          <p:nvPr/>
        </p:nvSpPr>
        <p:spPr>
          <a:xfrm>
            <a:off x="713232" y="5202936"/>
            <a:ext cx="6711696" cy="271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 → SQLite Database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713232" y="5454945"/>
            <a:ext cx="6711696" cy="222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processed_documents table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 rot="10800000">
            <a:off x="3995928" y="5692140"/>
            <a:ext cx="146304" cy="82296"/>
          </a:xfrm>
          <a:prstGeom prst="triangle">
            <a:avLst/>
          </a:prstGeom>
          <a:solidFill>
            <a:srgbClr val="5A6178"/>
          </a:solidFill>
          <a:ln/>
        </p:spPr>
      </p:sp>
      <p:sp>
        <p:nvSpPr>
          <p:cNvPr id="37" name="Shape 34"/>
          <p:cNvSpPr/>
          <p:nvPr/>
        </p:nvSpPr>
        <p:spPr>
          <a:xfrm>
            <a:off x="548640" y="5769864"/>
            <a:ext cx="7040880" cy="484632"/>
          </a:xfrm>
          <a:prstGeom prst="roundRect">
            <a:avLst>
              <a:gd name="adj" fmla="val 11321"/>
            </a:avLst>
          </a:prstGeom>
          <a:solidFill>
            <a:srgbClr val="141B49"/>
          </a:solidFill>
          <a:ln/>
        </p:spPr>
      </p:sp>
      <p:sp>
        <p:nvSpPr>
          <p:cNvPr id="38" name="Text 35"/>
          <p:cNvSpPr/>
          <p:nvPr/>
        </p:nvSpPr>
        <p:spPr>
          <a:xfrm>
            <a:off x="713232" y="5769864"/>
            <a:ext cx="6711696" cy="271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Response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713232" y="6021873"/>
            <a:ext cx="6711696" cy="222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status · extracted_data · validation · metadata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909560" y="1234440"/>
            <a:ext cx="370332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41" name="Text 38"/>
          <p:cNvSpPr/>
          <p:nvPr/>
        </p:nvSpPr>
        <p:spPr>
          <a:xfrm>
            <a:off x="818388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TYPES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183880" y="169164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Loss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Statement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7909560" y="3383280"/>
            <a:ext cx="3703320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</p:sp>
      <p:sp>
        <p:nvSpPr>
          <p:cNvPr id="44" name="Text 41"/>
          <p:cNvSpPr/>
          <p:nvPr/>
        </p:nvSpPr>
        <p:spPr>
          <a:xfrm>
            <a:off x="818388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8183880" y="384048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(native)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(scanned)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 / PNG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7909560" y="5349240"/>
            <a:ext cx="370332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47" name="Text 44"/>
          <p:cNvSpPr/>
          <p:nvPr/>
        </p:nvSpPr>
        <p:spPr>
          <a:xfrm>
            <a:off x="8138160" y="534924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browser → API → 5-stage pipeline → database → JSON</a:t>
            </a:r>
            <a:endParaRPr lang="en-US" sz="1150" dirty="0"/>
          </a:p>
        </p:txBody>
      </p:sp>
      <p:sp>
        <p:nvSpPr>
          <p:cNvPr id="49" name="Text 46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Extraction: Why Rule-Based, Not an LLM</a:t>
            </a:r>
            <a:endParaRPr lang="en-US" sz="2700" dirty="0"/>
          </a:p>
        </p:txBody>
      </p:sp>
      <p:sp>
        <p:nvSpPr>
          <p:cNvPr id="20" name="Shape 14"/>
          <p:cNvSpPr/>
          <p:nvPr/>
        </p:nvSpPr>
        <p:spPr>
          <a:xfrm>
            <a:off x="635776" y="1166307"/>
            <a:ext cx="10901800" cy="3988399"/>
          </a:xfrm>
          <a:prstGeom prst="roundRect">
            <a:avLst>
              <a:gd name="adj" fmla="val 3529"/>
            </a:avLst>
          </a:prstGeom>
          <a:solidFill>
            <a:srgbClr val="F4F6FC"/>
          </a:solidFill>
          <a:ln/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Zero cost, zero external dependency - no API key, no rate limit risk during evaluation, runs fully offline.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Deterministic &amp; explainable - same input always gives the same output.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Confidence scores are derived from the OCR engine's real per-word confidence, never an invented number.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3 financial statement types share one consistent tabular layout - a positional label/value table parser handles this very reliably.</a:t>
            </a:r>
            <a:endParaRPr lang="en-IN" dirty="0"/>
          </a:p>
        </p:txBody>
      </p:sp>
      <p:sp>
        <p:nvSpPr>
          <p:cNvPr id="29" name="Text 22"/>
          <p:cNvSpPr/>
          <p:nvPr/>
        </p:nvSpPr>
        <p:spPr>
          <a:xfrm>
            <a:off x="548640" y="5257800"/>
            <a:ext cx="11109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490472"/>
            <a:ext cx="1110996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1591056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5910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417320" y="1587829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Validation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257800" y="1508760"/>
            <a:ext cx="6263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Magic-byte file-type sniffing (not trusted extension), integrity check, 3-page limit.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1020" y="2505456"/>
            <a:ext cx="1110996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Shape 10"/>
          <p:cNvSpPr/>
          <p:nvPr/>
        </p:nvSpPr>
        <p:spPr>
          <a:xfrm>
            <a:off x="777240" y="2642616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264261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1417320" y="2593131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Service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257800" y="2560320"/>
            <a:ext cx="6263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native text extraction; scanned pages/images OCR'd via Tesseract with word-level confidence.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3520440"/>
            <a:ext cx="1110996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</p:spPr>
      </p:sp>
      <p:sp>
        <p:nvSpPr>
          <p:cNvPr id="21" name="Shape 16"/>
          <p:cNvSpPr/>
          <p:nvPr/>
        </p:nvSpPr>
        <p:spPr>
          <a:xfrm>
            <a:off x="777240" y="3694176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17"/>
          <p:cNvSpPr/>
          <p:nvPr/>
        </p:nvSpPr>
        <p:spPr>
          <a:xfrm>
            <a:off x="777240" y="3694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1417320" y="3630168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 Parser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5257800" y="3611880"/>
            <a:ext cx="6263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positional table parser: groups words into rows, separates schedule refs from period-value columns, tracks section headers for reconciliation.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4572000"/>
            <a:ext cx="1110996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</p:spPr>
      </p:sp>
      <p:sp>
        <p:nvSpPr>
          <p:cNvPr id="28" name="Shape 22"/>
          <p:cNvSpPr/>
          <p:nvPr/>
        </p:nvSpPr>
        <p:spPr>
          <a:xfrm>
            <a:off x="777240" y="4745736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3"/>
          <p:cNvSpPr/>
          <p:nvPr/>
        </p:nvSpPr>
        <p:spPr>
          <a:xfrm>
            <a:off x="777240" y="474573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25"/>
          <p:cNvSpPr/>
          <p:nvPr/>
        </p:nvSpPr>
        <p:spPr>
          <a:xfrm>
            <a:off x="1417320" y="4654296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Service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5257800" y="4663440"/>
            <a:ext cx="6263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document_type: regex/keyword extraction (invoices) or keyword-mapped table lookups (statements) + full line-item arrays.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541020" y="5623560"/>
            <a:ext cx="1110996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</p:spPr>
      </p:sp>
      <p:sp>
        <p:nvSpPr>
          <p:cNvPr id="35" name="Shape 28"/>
          <p:cNvSpPr/>
          <p:nvPr/>
        </p:nvSpPr>
        <p:spPr>
          <a:xfrm>
            <a:off x="777240" y="5797296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29"/>
          <p:cNvSpPr/>
          <p:nvPr/>
        </p:nvSpPr>
        <p:spPr>
          <a:xfrm>
            <a:off x="777240" y="579729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9" name="Text 31"/>
          <p:cNvSpPr/>
          <p:nvPr/>
        </p:nvSpPr>
        <p:spPr>
          <a:xfrm>
            <a:off x="1417320" y="5733288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Validation Service</a:t>
            </a:r>
            <a:endParaRPr lang="en-US" sz="1350" dirty="0"/>
          </a:p>
        </p:txBody>
      </p:sp>
      <p:sp>
        <p:nvSpPr>
          <p:cNvPr id="40" name="Text 32"/>
          <p:cNvSpPr/>
          <p:nvPr/>
        </p:nvSpPr>
        <p:spPr>
          <a:xfrm>
            <a:off x="5257800" y="5715000"/>
            <a:ext cx="6263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formulas §4.4 per document type &amp; period; tolerance-based PASS / FAIL / NOT_APPLICABLE.</a:t>
            </a:r>
            <a:endParaRPr lang="en-US" sz="1150" dirty="0"/>
          </a:p>
        </p:txBody>
      </p:sp>
      <p:sp>
        <p:nvSpPr>
          <p:cNvPr id="42" name="Text 3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Validation — Examples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2F3C7E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234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56232"/>
            <a:ext cx="3566160" cy="3081528"/>
          </a:xfrm>
          <a:prstGeom prst="roundRect">
            <a:avLst>
              <a:gd name="adj" fmla="val 2374"/>
            </a:avLst>
          </a:prstGeom>
          <a:solidFill>
            <a:srgbClr val="F4F6FC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103120"/>
            <a:ext cx="31089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Capital &amp; Liabilities ≈ Total Assets, independently per reporting period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component-sum reconciliation for each side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23444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4A5578"/>
          </a:solidFill>
          <a:ln/>
        </p:spPr>
      </p:sp>
      <p:sp>
        <p:nvSpPr>
          <p:cNvPr id="10" name="Text 7"/>
          <p:cNvSpPr/>
          <p:nvPr/>
        </p:nvSpPr>
        <p:spPr>
          <a:xfrm>
            <a:off x="4315968" y="1234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Loss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15968" y="1856232"/>
            <a:ext cx="3566160" cy="3081528"/>
          </a:xfrm>
          <a:prstGeom prst="roundRect">
            <a:avLst>
              <a:gd name="adj" fmla="val 2374"/>
            </a:avLst>
          </a:prstGeom>
          <a:solidFill>
            <a:srgbClr val="F4F6FC"/>
          </a:solidFill>
          <a:ln/>
        </p:spPr>
      </p:sp>
      <p:sp>
        <p:nvSpPr>
          <p:cNvPr id="12" name="Text 9"/>
          <p:cNvSpPr/>
          <p:nvPr/>
        </p:nvSpPr>
        <p:spPr>
          <a:xfrm>
            <a:off x="4544568" y="2103120"/>
            <a:ext cx="31089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Earned + Other Income ≈ Total Income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Income − Total Expenditure ≈ Net Profit before Minority Interest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+ Brought Forward ≈ Total for Appropriation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083296" y="123444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6A3FA0"/>
          </a:solidFill>
          <a:ln/>
        </p:spPr>
      </p:sp>
      <p:sp>
        <p:nvSpPr>
          <p:cNvPr id="14" name="Text 11"/>
          <p:cNvSpPr/>
          <p:nvPr/>
        </p:nvSpPr>
        <p:spPr>
          <a:xfrm>
            <a:off x="8083296" y="1234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Statement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083296" y="1856232"/>
            <a:ext cx="3566160" cy="3081528"/>
          </a:xfrm>
          <a:prstGeom prst="roundRect">
            <a:avLst>
              <a:gd name="adj" fmla="val 2374"/>
            </a:avLst>
          </a:prstGeom>
          <a:solidFill>
            <a:srgbClr val="F4F6FC"/>
          </a:solidFill>
          <a:ln/>
        </p:spPr>
      </p:sp>
      <p:sp>
        <p:nvSpPr>
          <p:cNvPr id="16" name="Text 13"/>
          <p:cNvSpPr/>
          <p:nvPr/>
        </p:nvSpPr>
        <p:spPr>
          <a:xfrm>
            <a:off x="8311896" y="2103120"/>
            <a:ext cx="31089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+ Investing + Financing + FX ≈ Net Increase in Cash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+ Net Increase ≈ Closing Cash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Parentheses treated as negative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516636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516636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max(±1.0 absolute, ±1% relative)  —  a check is 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NOT_APPLICABLE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never FAIL, when a required field wasn't found. Nothing is ever assumed or invented.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Demonstrated Scenarios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10996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1691640"/>
            <a:ext cx="621792" cy="621792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8" name="Image 1" descr="icons/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46" y="1853306"/>
            <a:ext cx="298460" cy="2984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737360" y="1581912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0" name="Text 6"/>
          <p:cNvSpPr/>
          <p:nvPr/>
        </p:nvSpPr>
        <p:spPr>
          <a:xfrm>
            <a:off x="1737360" y="158191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737360" y="19476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extraction &amp; validation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737360" y="2258568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balance_sheet_pass.json · cash_flow_statement_pass.json · invoice_pass.json — full pipeline succeeds end to end.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2715768"/>
            <a:ext cx="1110996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</p:sp>
      <p:sp>
        <p:nvSpPr>
          <p:cNvPr id="14" name="Shape 10"/>
          <p:cNvSpPr/>
          <p:nvPr/>
        </p:nvSpPr>
        <p:spPr>
          <a:xfrm>
            <a:off x="868680" y="2990088"/>
            <a:ext cx="621792" cy="621792"/>
          </a:xfrm>
          <a:prstGeom prst="ellipse">
            <a:avLst/>
          </a:prstGeom>
          <a:solidFill>
            <a:srgbClr val="B0392A"/>
          </a:solidFill>
          <a:ln/>
        </p:spPr>
      </p:sp>
      <p:pic>
        <p:nvPicPr>
          <p:cNvPr id="15" name="Image 2" descr="icons/f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346" y="3151754"/>
            <a:ext cx="298460" cy="2984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737360" y="288036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B0392A"/>
          </a:solidFill>
          <a:ln/>
        </p:spPr>
      </p:sp>
      <p:sp>
        <p:nvSpPr>
          <p:cNvPr id="17" name="Text 12"/>
          <p:cNvSpPr/>
          <p:nvPr/>
        </p:nvSpPr>
        <p:spPr>
          <a:xfrm>
            <a:off x="1737360" y="28803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FAIL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737360" y="324612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profit_and_loss_validation_fail.json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737360" y="3557016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OCR digit-misread on “Total Expenditure” is correctly caught by the reconciliation check — left un-fixed on purpose.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014216"/>
            <a:ext cx="1110996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</p:sp>
      <p:sp>
        <p:nvSpPr>
          <p:cNvPr id="21" name="Shape 16"/>
          <p:cNvSpPr/>
          <p:nvPr/>
        </p:nvSpPr>
        <p:spPr>
          <a:xfrm>
            <a:off x="868680" y="4288536"/>
            <a:ext cx="621792" cy="621792"/>
          </a:xfrm>
          <a:prstGeom prst="ellipse">
            <a:avLst/>
          </a:prstGeom>
          <a:solidFill>
            <a:srgbClr val="C08A1E"/>
          </a:solidFill>
          <a:ln/>
        </p:spPr>
      </p:sp>
      <p:pic>
        <p:nvPicPr>
          <p:cNvPr id="22" name="Image 3" descr="icons/miss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346" y="4450202"/>
            <a:ext cx="298460" cy="29846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1737360" y="4178808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C08A1E"/>
          </a:solidFill>
          <a:ln/>
        </p:spPr>
      </p:sp>
      <p:sp>
        <p:nvSpPr>
          <p:cNvPr id="24" name="Text 18"/>
          <p:cNvSpPr/>
          <p:nvPr/>
        </p:nvSpPr>
        <p:spPr>
          <a:xfrm>
            <a:off x="1737360" y="41788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FIELDS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1737360" y="4544568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invoice_low_quality_missing_fields.json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737360" y="4855464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stamped receipt; unreadable fields report null (with low confidence) rather than a guess.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48640" y="5312664"/>
            <a:ext cx="1110996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</p:sp>
      <p:sp>
        <p:nvSpPr>
          <p:cNvPr id="28" name="Shape 22"/>
          <p:cNvSpPr/>
          <p:nvPr/>
        </p:nvSpPr>
        <p:spPr>
          <a:xfrm>
            <a:off x="868680" y="5586984"/>
            <a:ext cx="621792" cy="621792"/>
          </a:xfrm>
          <a:prstGeom prst="ellipse">
            <a:avLst/>
          </a:prstGeom>
          <a:solidFill>
            <a:srgbClr val="5A5A5A"/>
          </a:solidFill>
          <a:ln/>
        </p:spPr>
      </p:sp>
      <p:pic>
        <p:nvPicPr>
          <p:cNvPr id="29" name="Image 4" descr="icons/unsupport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346" y="5748650"/>
            <a:ext cx="298460" cy="29846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1737360" y="5477256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5A5A5A"/>
          </a:solidFill>
          <a:ln/>
        </p:spPr>
      </p:sp>
      <p:sp>
        <p:nvSpPr>
          <p:cNvPr id="31" name="Text 24"/>
          <p:cNvSpPr/>
          <p:nvPr/>
        </p:nvSpPr>
        <p:spPr>
          <a:xfrm>
            <a:off x="1737360" y="547725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FILE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1737360" y="5843016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unsupported_file_failed.json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1737360" y="6153912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.txt upload rejected gracefully — no crash.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Repository Structure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2544" y="1335024"/>
            <a:ext cx="3566160" cy="1049588"/>
          </a:xfrm>
          <a:prstGeom prst="roundRect">
            <a:avLst>
              <a:gd name="adj" fmla="val 4865"/>
            </a:avLst>
          </a:prstGeom>
          <a:solidFill>
            <a:srgbClr val="F4F6FC"/>
          </a:solidFill>
          <a:ln/>
        </p:spPr>
      </p:sp>
      <p:sp>
        <p:nvSpPr>
          <p:cNvPr id="8" name="Text 4"/>
          <p:cNvSpPr/>
          <p:nvPr/>
        </p:nvSpPr>
        <p:spPr>
          <a:xfrm>
            <a:off x="679704" y="1438297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 v2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79704" y="1863314"/>
            <a:ext cx="3163824" cy="2882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validation, auto Swagger docs at /docs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320630" y="1355822"/>
            <a:ext cx="3566160" cy="1049588"/>
          </a:xfrm>
          <a:prstGeom prst="roundRect">
            <a:avLst>
              <a:gd name="adj" fmla="val 4865"/>
            </a:avLst>
          </a:prstGeom>
          <a:solidFill>
            <a:srgbClr val="F4F6FC"/>
          </a:solidFill>
          <a:ln/>
        </p:spPr>
      </p:sp>
      <p:sp>
        <p:nvSpPr>
          <p:cNvPr id="13" name="Text 8"/>
          <p:cNvSpPr/>
          <p:nvPr/>
        </p:nvSpPr>
        <p:spPr>
          <a:xfrm>
            <a:off x="4517136" y="1438297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4521798" y="1859818"/>
            <a:ext cx="31638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PDF text + rasterizing scanned pages/images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098716" y="1348740"/>
            <a:ext cx="3566160" cy="1056670"/>
          </a:xfrm>
          <a:prstGeom prst="roundRect">
            <a:avLst>
              <a:gd name="adj" fmla="val 4865"/>
            </a:avLst>
          </a:prstGeom>
          <a:solidFill>
            <a:srgbClr val="F4F6FC"/>
          </a:solidFill>
          <a:ln/>
        </p:spPr>
      </p:sp>
      <p:sp>
        <p:nvSpPr>
          <p:cNvPr id="18" name="Text 12"/>
          <p:cNvSpPr/>
          <p:nvPr/>
        </p:nvSpPr>
        <p:spPr>
          <a:xfrm>
            <a:off x="8284464" y="1499616"/>
            <a:ext cx="351129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(pytesseract)</a:t>
            </a: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8299884" y="1885995"/>
            <a:ext cx="31638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local, offline OCR with per-word confidence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37882" y="2592682"/>
            <a:ext cx="3566160" cy="1049588"/>
          </a:xfrm>
          <a:prstGeom prst="roundRect">
            <a:avLst>
              <a:gd name="adj" fmla="val 4865"/>
            </a:avLst>
          </a:prstGeom>
          <a:solidFill>
            <a:srgbClr val="F4F6FC"/>
          </a:solidFill>
          <a:ln/>
        </p:spPr>
      </p:sp>
      <p:sp>
        <p:nvSpPr>
          <p:cNvPr id="23" name="Text 16"/>
          <p:cNvSpPr/>
          <p:nvPr/>
        </p:nvSpPr>
        <p:spPr>
          <a:xfrm>
            <a:off x="732775" y="2713616"/>
            <a:ext cx="326602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SQLite</a:t>
            </a: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732775" y="3135496"/>
            <a:ext cx="3163824" cy="4602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persistence, swappable to Postgres via DATABASE_URL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320630" y="2617336"/>
            <a:ext cx="3566160" cy="1049588"/>
          </a:xfrm>
          <a:prstGeom prst="roundRect">
            <a:avLst>
              <a:gd name="adj" fmla="val 4865"/>
            </a:avLst>
          </a:prstGeom>
          <a:solidFill>
            <a:srgbClr val="F4F6FC"/>
          </a:solidFill>
          <a:ln/>
        </p:spPr>
      </p:sp>
      <p:sp>
        <p:nvSpPr>
          <p:cNvPr id="28" name="Text 20"/>
          <p:cNvSpPr/>
          <p:nvPr/>
        </p:nvSpPr>
        <p:spPr>
          <a:xfrm>
            <a:off x="4517136" y="2700169"/>
            <a:ext cx="30490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Frontend</a:t>
            </a:r>
            <a:endParaRPr lang="en-US" dirty="0"/>
          </a:p>
        </p:txBody>
      </p:sp>
      <p:sp>
        <p:nvSpPr>
          <p:cNvPr id="29" name="Text 21"/>
          <p:cNvSpPr/>
          <p:nvPr/>
        </p:nvSpPr>
        <p:spPr>
          <a:xfrm>
            <a:off x="4521798" y="3147060"/>
            <a:ext cx="3163824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shells — no Node/React build step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8098716" y="2617336"/>
            <a:ext cx="3566160" cy="1056670"/>
          </a:xfrm>
          <a:prstGeom prst="roundRect">
            <a:avLst>
              <a:gd name="adj" fmla="val 4865"/>
            </a:avLst>
          </a:prstGeom>
          <a:solidFill>
            <a:srgbClr val="F4F6FC"/>
          </a:solidFill>
          <a:ln/>
        </p:spPr>
      </p:sp>
      <p:sp>
        <p:nvSpPr>
          <p:cNvPr id="33" name="Text 24"/>
          <p:cNvSpPr/>
          <p:nvPr/>
        </p:nvSpPr>
        <p:spPr>
          <a:xfrm>
            <a:off x="8299884" y="270922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dirty="0"/>
          </a:p>
        </p:txBody>
      </p:sp>
      <p:sp>
        <p:nvSpPr>
          <p:cNvPr id="34" name="Text 25"/>
          <p:cNvSpPr/>
          <p:nvPr/>
        </p:nvSpPr>
        <p:spPr>
          <a:xfrm>
            <a:off x="8295401" y="3147060"/>
            <a:ext cx="31638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Dockerfile deploys the whole app to Render / Railway / Koyeb</a:t>
            </a:r>
            <a:endParaRPr lang="en-US" sz="1200" dirty="0"/>
          </a:p>
        </p:txBody>
      </p:sp>
      <p:sp>
        <p:nvSpPr>
          <p:cNvPr id="40" name="Text 30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00E12A08-A3DA-4943-1B0F-2D28E9F45056}"/>
              </a:ext>
            </a:extLst>
          </p:cNvPr>
          <p:cNvSpPr/>
          <p:nvPr/>
        </p:nvSpPr>
        <p:spPr>
          <a:xfrm>
            <a:off x="548640" y="3850340"/>
            <a:ext cx="3566160" cy="1049588"/>
          </a:xfrm>
          <a:prstGeom prst="roundRect">
            <a:avLst>
              <a:gd name="adj" fmla="val 4865"/>
            </a:avLst>
          </a:prstGeom>
          <a:solidFill>
            <a:srgbClr val="F4F6FC"/>
          </a:solidFill>
          <a:ln/>
        </p:spPr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F831D7-C651-742D-5C08-DD750A15BB94}"/>
              </a:ext>
            </a:extLst>
          </p:cNvPr>
          <p:cNvSpPr txBox="1"/>
          <p:nvPr/>
        </p:nvSpPr>
        <p:spPr>
          <a:xfrm>
            <a:off x="732775" y="3944919"/>
            <a:ext cx="3266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486A69-2CDE-466D-C581-CEE7E75EE7F8}"/>
              </a:ext>
            </a:extLst>
          </p:cNvPr>
          <p:cNvSpPr txBox="1"/>
          <p:nvPr/>
        </p:nvSpPr>
        <p:spPr>
          <a:xfrm>
            <a:off x="679704" y="4314251"/>
            <a:ext cx="33712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ea typeface="Calibri" pitchFamily="34" charset="-122"/>
                <a:cs typeface="Calibri" pitchFamily="34" charset="-120"/>
              </a:rPr>
              <a:t>27 automated tests covering file validation, </a:t>
            </a:r>
          </a:p>
          <a:p>
            <a:r>
              <a:rPr lang="en-US" sz="1200" dirty="0">
                <a:ea typeface="Calibri" pitchFamily="34" charset="-122"/>
                <a:cs typeface="Calibri" pitchFamily="34" charset="-120"/>
              </a:rPr>
              <a:t>financial validation, extraction, and API layers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 &amp; Production Roadmap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141B49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2103120"/>
            <a:ext cx="48463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extraction is tuned to the provided dataset's layouts; very different templates need their keyword lists extended.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occasionally misreads a digit on low-resolution/noisy scans (evidence text lets a reviewer verify every value quickly).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on a free-tier deploy resets on redeploy unless a persistent disk is attached.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7220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141B49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92240" y="214884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64922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022592" y="207568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Postgres + persistent file storage for originals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92240" y="310896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022592" y="303580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LLM fallback for low-confidence documents, on top of the free default path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92240" y="40690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022592" y="399592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 queue for processing, with auth + rate limiting on the API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970</Words>
  <Application>Microsoft Office PowerPoint</Application>
  <PresentationFormat>Widescreen</PresentationFormat>
  <Paragraphs>133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Ishika Mandloi</dc:creator>
  <cp:lastModifiedBy>shivani mandloi</cp:lastModifiedBy>
  <cp:revision>5</cp:revision>
  <dcterms:created xsi:type="dcterms:W3CDTF">2026-09-12T04:15:12Z</dcterms:created>
  <dcterms:modified xsi:type="dcterms:W3CDTF">2026-09-12T05:23:52Z</dcterms:modified>
</cp:coreProperties>
</file>